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13d807dd674dac" /><Relationship Type="http://schemas.openxmlformats.org/officeDocument/2006/relationships/extended-properties" Target="/docProps/app.xml" Id="R5989b2c9f7a248bd" /><Relationship Type="http://schemas.openxmlformats.org/officeDocument/2006/relationships/officeDocument" Target="/ppt/presentation.xml" Id="Rf2070cbcb23a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a6bc73a2244b7"/>
  </p:sldMasterIdLst>
  <p:notesMasterIdLst>
    <p:notesMasterId xmlns:r="http://schemas.openxmlformats.org/officeDocument/2006/relationships" r:id="R1361f1ae75474c8c"/>
  </p:notesMasterIdLst>
  <p:sldIdLst>
    <p:sldId xmlns:r="http://schemas.openxmlformats.org/officeDocument/2006/relationships" id="256" r:id="R8422015812414db3"/>
    <p:sldId xmlns:r="http://schemas.openxmlformats.org/officeDocument/2006/relationships" id="257" r:id="R82d8324d7c0a4e2b"/>
    <p:sldId xmlns:r="http://schemas.openxmlformats.org/officeDocument/2006/relationships" id="258" r:id="R3c6c796312b14981"/>
    <p:sldId xmlns:r="http://schemas.openxmlformats.org/officeDocument/2006/relationships" id="259" r:id="R9f692a2d6faf4360"/>
    <p:sldId xmlns:r="http://schemas.openxmlformats.org/officeDocument/2006/relationships" id="260" r:id="Redad7f2348c34159"/>
    <p:sldId xmlns:r="http://schemas.openxmlformats.org/officeDocument/2006/relationships" id="261" r:id="Rbc32b1d31592499b"/>
    <p:sldId xmlns:r="http://schemas.openxmlformats.org/officeDocument/2006/relationships" id="262" r:id="R77555d4497c349d5"/>
    <p:sldId xmlns:r="http://schemas.openxmlformats.org/officeDocument/2006/relationships" id="263" r:id="Rdd6e69b02d124239"/>
    <p:sldId xmlns:r="http://schemas.openxmlformats.org/officeDocument/2006/relationships" id="264" r:id="R484bd8d9bd0541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a6bc73a2244b7" /><Relationship Type="http://schemas.openxmlformats.org/officeDocument/2006/relationships/theme" Target="/ppt/theme/theme1.xml" Id="R271351da086c43a0" /><Relationship Type="http://schemas.openxmlformats.org/officeDocument/2006/relationships/notesMaster" Target="/ppt/notesMasters/notesMaster1.xml" Id="R1361f1ae75474c8c" /><Relationship Type="http://schemas.openxmlformats.org/officeDocument/2006/relationships/presProps" Target="/ppt/presProps.xml" Id="R5e3c6db4f26247dd" /><Relationship Type="http://schemas.openxmlformats.org/officeDocument/2006/relationships/viewProps" Target="/ppt/viewProps.xml" Id="Rfdc6598938c94a7f" /><Relationship Type="http://schemas.openxmlformats.org/officeDocument/2006/relationships/tableStyles" Target="/ppt/tableStyles.xml" Id="Re64d29b0a7084848" /><Relationship Type="http://schemas.openxmlformats.org/officeDocument/2006/relationships/slide" Target="/ppt/slides/slide1.xml" Id="R8422015812414db3" /><Relationship Type="http://schemas.openxmlformats.org/officeDocument/2006/relationships/slide" Target="/ppt/slides/slide2.xml" Id="R82d8324d7c0a4e2b" /><Relationship Type="http://schemas.openxmlformats.org/officeDocument/2006/relationships/slide" Target="/ppt/slides/slide3.xml" Id="R3c6c796312b14981" /><Relationship Type="http://schemas.openxmlformats.org/officeDocument/2006/relationships/slide" Target="/ppt/slides/slide4.xml" Id="R9f692a2d6faf4360" /><Relationship Type="http://schemas.openxmlformats.org/officeDocument/2006/relationships/slide" Target="/ppt/slides/slide5.xml" Id="Redad7f2348c34159" /><Relationship Type="http://schemas.openxmlformats.org/officeDocument/2006/relationships/slide" Target="/ppt/slides/slide6.xml" Id="Rbc32b1d31592499b" /><Relationship Type="http://schemas.openxmlformats.org/officeDocument/2006/relationships/slide" Target="/ppt/slides/slide7.xml" Id="R77555d4497c349d5" /><Relationship Type="http://schemas.openxmlformats.org/officeDocument/2006/relationships/slide" Target="/ppt/slides/slide8.xml" Id="Rdd6e69b02d124239" /><Relationship Type="http://schemas.openxmlformats.org/officeDocument/2006/relationships/slide" Target="/ppt/slides/slide9.xml" Id="R484bd8d9bd05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019be3c162e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afc232e1b544b0" /><Relationship Type="http://schemas.openxmlformats.org/officeDocument/2006/relationships/notesMaster" Target="/ppt/notesMasters/notesMaster1.xml" Id="R46e01b90cd9845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9813779044c6d" /><Relationship Type="http://schemas.openxmlformats.org/officeDocument/2006/relationships/notesMaster" Target="/ppt/notesMasters/notesMaster1.xml" Id="R0a53ea77306e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ba38b032e14714" /><Relationship Type="http://schemas.openxmlformats.org/officeDocument/2006/relationships/notesMaster" Target="/ppt/notesMasters/notesMaster1.xml" Id="R7aef883ead1b41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d732329004a8b" /><Relationship Type="http://schemas.openxmlformats.org/officeDocument/2006/relationships/notesMaster" Target="/ppt/notesMasters/notesMaster1.xml" Id="Re56f1f9f53a746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5f049679cf4e45" /><Relationship Type="http://schemas.openxmlformats.org/officeDocument/2006/relationships/notesMaster" Target="/ppt/notesMasters/notesMaster1.xml" Id="Rd1b3bbddc3bc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721f434a5d4ac8" /><Relationship Type="http://schemas.openxmlformats.org/officeDocument/2006/relationships/notesMaster" Target="/ppt/notesMasters/notesMaster1.xml" Id="R1398d94f0f2a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03777c5c748ff" /><Relationship Type="http://schemas.openxmlformats.org/officeDocument/2006/relationships/notesMaster" Target="/ppt/notesMasters/notesMaster1.xml" Id="R4f177a32ee7741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40bc454b2b4254" /><Relationship Type="http://schemas.openxmlformats.org/officeDocument/2006/relationships/notesMaster" Target="/ppt/notesMasters/notesMaster1.xml" Id="R30126606948142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19a5ffc8ee407f" /><Relationship Type="http://schemas.openxmlformats.org/officeDocument/2006/relationships/notesMaster" Target="/ppt/notesMasters/notesMaster1.xml" Id="Rafd21aca3034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66ff2edad4b5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d70b85222c649fc" /><Relationship Type="http://schemas.openxmlformats.org/officeDocument/2006/relationships/slideLayout" Target="/ppt/slideLayouts/slideLayout2.xml" Id="R1beae2292919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ae2292919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3b26a12874136" /><Relationship Type="http://schemas.openxmlformats.org/officeDocument/2006/relationships/notesSlide" Target="/ppt/notesSlides/notesSlide1.xml" Id="Rc702125d0994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4f0a4dc15e46a1" /><Relationship Type="http://schemas.openxmlformats.org/officeDocument/2006/relationships/notesSlide" Target="/ppt/notesSlides/notesSlide2.xml" Id="R9f6b35e1a487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9ae7f7e6a44a5" /><Relationship Type="http://schemas.openxmlformats.org/officeDocument/2006/relationships/notesSlide" Target="/ppt/notesSlides/notesSlide3.xml" Id="R23023d2bcc4a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6f983124e94143" /><Relationship Type="http://schemas.openxmlformats.org/officeDocument/2006/relationships/notesSlide" Target="/ppt/notesSlides/notesSlide4.xml" Id="Rafdeeab044b5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e6738c0c84afe" /><Relationship Type="http://schemas.openxmlformats.org/officeDocument/2006/relationships/notesSlide" Target="/ppt/notesSlides/notesSlide5.xml" Id="R475e84fed4ca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ba0e8ec394862" /><Relationship Type="http://schemas.openxmlformats.org/officeDocument/2006/relationships/notesSlide" Target="/ppt/notesSlides/notesSlide6.xml" Id="R500e17205b7140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e885815bbf4cef" /><Relationship Type="http://schemas.openxmlformats.org/officeDocument/2006/relationships/notesSlide" Target="/ppt/notesSlides/notesSlide7.xml" Id="R513185c8d1a54b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66855fc4dd4fb8" /><Relationship Type="http://schemas.openxmlformats.org/officeDocument/2006/relationships/notesSlide" Target="/ppt/notesSlides/notesSlide8.xml" Id="R7527cbac8f6f42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ac9e313ee41bd" /><Relationship Type="http://schemas.openxmlformats.org/officeDocument/2006/relationships/notesSlide" Target="/ppt/notesSlides/notesSlide9.xml" Id="R4e1b038130b245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02964-7A6F-4A03-B510-FE7981B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15EBE-31EF-45C6-933F-878DFFD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20692-D294-4722-AD8D-47D5072E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DDE33-E2B6-452F-BD57-1D2E1D04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CD522-CEC0-476D-A3F2-53B96401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8-minute synchronized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B8278-38DF-42C2-B468-C815ECF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Generative AI RAG Document Q&amp;A 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2AABD-37DB-4293-8562-7D983F51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A local assistant that answers questions from uploaded PDFs with citations and refuses when the retrieved evidence is weak.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46DE7-A6FD-438F-B94B-1A60937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F52C1-3536-4B91-8DF0-A728C15D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Bhuwan Jung Thapa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AB5A1-47E4-46F1-B6CE-DA197E5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5250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47522-0BFA-41DA-B662-EDEE939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477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E1A72-9B29-46CD-9AEA-B8A6A756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INDEXED PDFS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D99CF-688E-479C-AEB3-905DC49E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383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current corpus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6FE0C-B13E-4CFD-9B56-CD947E3A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F95F7-F981-49EE-9996-A1110CA6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0E895-601A-4FB6-A290-6212BF3E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RETRIEVAL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2FDAC-D143-4F9D-BEB8-D712A13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metadata-rich passages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62BD1-2DF8-4D75-9890-2C4FC59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E68A0-85CE-498B-B497-7163596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BBD4A-335B-48D0-A237-2BDAA16C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338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HIT@1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F7E7B-C0A6-43C1-958B-97A69EBC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11-question bundled 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EBE92-D678-4342-B7C0-ED49460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5045B-9D50-4FD5-9AF3-FA80B86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E8F27-B2D1-4569-9483-4BFF5A30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TRAINING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0DC0F-846A-4286-89A4-E3ECD59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388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RAG instead of fine-tuning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577BA-6127-48DD-ABF3-B8985F3A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33D29-6F19-4B27-9B06-7B4541EB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README.md, indexes/manifest.json, reports/figures/ranks_debug.csv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7B563-27FE-49DA-95A3-551A429B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01 / 09  |  0:30</a:t>
            </a:r>
          </a:p>
        </p:txBody>
      </p:sp>
    </p:spTree>
    <p:extLst>
      <p:ext uri="{BB962C8B-B14F-4D97-AF65-F5344CB8AC3E}">
        <p14:creationId xmlns:p14="http://schemas.microsoft.com/office/powerpoint/2010/main" val="1169738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CAB2C-4CE7-4ECF-B5C5-3C24277A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blem-marker">
            <a:extLst xmlns:a="http://schemas.openxmlformats.org/drawingml/2006/main">
              <a:ext uri="{FF2B5EF4-FFF2-40B4-BE49-F238E27FC236}">
                <a16:creationId xmlns:a16="http://schemas.microsoft.com/office/drawing/2014/main" id="{0F69BCE4-FABA-4F18-97BA-348DD87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blem-label">
            <a:extLst xmlns:a="http://schemas.openxmlformats.org/drawingml/2006/main">
              <a:ext uri="{FF2B5EF4-FFF2-40B4-BE49-F238E27FC236}">
                <a16:creationId xmlns:a16="http://schemas.microsoft.com/office/drawing/2014/main" id="{57C3DA3D-B07A-4B8A-B980-BA1E324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1C4BE-FB8A-4104-B623-F050E5F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Course-document questions need grounded answers, not model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458EF-4877-4850-90E9-F2C0F24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Research question: Can a lightweight RAG system answer PDF-specific questions with citations while refusing unsupported requests?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0D431-4810-4757-8DF2-CEAEBFC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143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A9055-A19B-475D-8ECD-8255C649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0799D-C926-4505-A9F5-A9B2032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9932E-2787-471B-98E9-E788AAB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Students ask practical questions about policies, deadlines, meetings, assignments, and project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8900A-B439-460E-9088-72E0A9B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3143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D2943-097A-485D-A7B5-46872F6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4EBD3-A24F-46E5-899C-DB4598C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Risk with a raw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1F140-EA3D-4B95-80BC-E949323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The model may answer fluently from memory even when the exact course document does not support the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4F3CF-785B-41E1-94CE-6E78F32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143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373C8-6046-4614-8DA4-40094FFC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2C7F7-7153-4E48-A15A-BD7F19D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Target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2E49D-06C0-4C90-BA09-5B08903E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Retrieve relevant passages first, generate only from that context, and expose citations plus retrieved chunks.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E0CED-E87E-4525-9E96-7899BD12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9B302-036C-4134-8504-FC93E30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195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D96D0-DA72-4270-BB8C-0661C568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67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CC23C-06FF-42B2-AD52-4634065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195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E02F9-97C3-4AB8-A9F0-A3BF1FAF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0B8B0-BC4C-497F-B549-2D24065A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935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Motivation: make document Q&amp;A auditable enough for coursework, office-hour questions, and reusable local corpora.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6550B-A930-4345-AFCB-B04C133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BFA25-8A81-4A12-879D-F00705F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High-level framing from README.md and Working.md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6F7FA-6D88-4D34-807E-511969B5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02 / 09  |  0:45</a:t>
            </a:r>
          </a:p>
        </p:txBody>
      </p:sp>
    </p:spTree>
    <p:extLst>
      <p:ext uri="{BB962C8B-B14F-4D97-AF65-F5344CB8AC3E}">
        <p14:creationId xmlns:p14="http://schemas.microsoft.com/office/powerpoint/2010/main" val="615052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6632A-9923-47B1-9A71-D2681144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urse Fit-marker">
            <a:extLst xmlns:a="http://schemas.openxmlformats.org/drawingml/2006/main">
              <a:ext uri="{FF2B5EF4-FFF2-40B4-BE49-F238E27FC236}">
                <a16:creationId xmlns:a16="http://schemas.microsoft.com/office/drawing/2014/main" id="{1FF41DC8-B8D4-4ADF-A567-00936A72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urse Fit-label">
            <a:extLst xmlns:a="http://schemas.openxmlformats.org/drawingml/2006/main">
              <a:ext uri="{FF2B5EF4-FFF2-40B4-BE49-F238E27FC236}">
                <a16:creationId xmlns:a16="http://schemas.microsoft.com/office/drawing/2014/main" id="{E9522B8D-9CB8-48E2-8986-DBFB9BFA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C O U R S E   F I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39F8-8AC3-453D-8C4D-5ED303F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design connects RAG, prompting, and evaluation into one reliability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05B7C-A293-4C64-9058-2F22B934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19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F02D7-631D-4874-A1EB-EC050395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Grounded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73164-1914-4C9F-AAA3-01405CF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7E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CE7E3"/>
                </a:solidFill>
                <a:latin typeface="Aptos"/>
                <a:ea typeface="Aptos"/>
                <a:cs typeface="Aptos"/>
              </a:rPr>
              <a:t>answer + citations + retrieved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315AA-C640-4F9A-85BD-6F7B70F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76074-8D74-406A-9325-B09082BF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43E6B-B397-4913-BCFB-907AFF4F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8D05-33C4-4CE4-B55C-6EF4D614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Embeddings + FAISS decide which document passages the model is allowed to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947C4-6D38-420E-92C7-BF42648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AC516-0DAC-4BFB-B8EE-A0C53F83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48B38-FB30-486A-AB5B-CC245A1E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 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0C7CD-9A93-4F7B-B355-4B76ADB2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A strict system prompt requires context-only answers, citations, and a fixed refusal sentence.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4249A-F2EB-4158-9CFC-4FD55E16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A4573-30B3-4D40-9B39-95DD241C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E0744-D784-4422-95E4-5B696C0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methodology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6CE95-C511-49E0-A59F-C7A6888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Hit@k isolates retrieval quality; manual labels separate correct, partial, unsupported, and hallucinated answers.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F4E1-68D3-48B4-89D4-1A50727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AFB56-38C8-4D5C-AFC4-0983D2D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FFC83-A134-4C7B-8433-75EEF9B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Fine-tuning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22176-3173-4BD9-813D-3ECECE7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01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No fine-tuning: the knowledge base changes by upload, so RAG is cheaper, reversible, and citation-friendly.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8ABED-18E6-48C9-A9AA-376C2DF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1C95D-9A41-42A3-B80E-88E17D2B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717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85366-4224-47F8-9E99-E5BC2C9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767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10BCD-FFF8-416F-AEF5-573F6F4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767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C502BD-96B5-4471-9609-C6412E3C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0B68C-0E85-4CFB-8072-B1241CD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Course topics represented: RAG, prompt engineering, evaluation; fine-tuning considered but not 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180CF-0843-4E63-8A94-7567EAA9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03 / 09  |  0:45</a:t>
            </a:r>
          </a:p>
        </p:txBody>
      </p:sp>
    </p:spTree>
    <p:extLst>
      <p:ext uri="{BB962C8B-B14F-4D97-AF65-F5344CB8AC3E}">
        <p14:creationId xmlns:p14="http://schemas.microsoft.com/office/powerpoint/2010/main" val="13871130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42FEA-56D2-4832-B819-7098939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ataset-marker">
            <a:extLst xmlns:a="http://schemas.openxmlformats.org/drawingml/2006/main">
              <a:ext uri="{FF2B5EF4-FFF2-40B4-BE49-F238E27FC236}">
                <a16:creationId xmlns:a16="http://schemas.microsoft.com/office/drawing/2014/main" id="{BD2ED7F9-D1BB-440C-BAB6-7E4CF9D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ataset-label">
            <a:extLst xmlns:a="http://schemas.openxmlformats.org/drawingml/2006/main">
              <a:ext uri="{FF2B5EF4-FFF2-40B4-BE49-F238E27FC236}">
                <a16:creationId xmlns:a16="http://schemas.microsoft.com/office/drawing/2014/main" id="{95DE46B0-056D-483C-842C-B6AD38D4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D A T A S E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F8F80-FCC9-4F03-B558-2797AEC1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current implementation indexes two uploaded PDFs into 26 searchable chunks.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A63B6-B794-4342-A611-E36267D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A27B4-B76B-4FB9-9852-19D09A80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32095-F113-4B10-82E3-975881D7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PAGES EXTRACTED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40877-50B2-4B42-993F-26634E4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pypdf page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B0A62-BA0D-42C3-B3D7-C2B46115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96B67-D536-44AE-8C13-1D3AD36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7AC57-0D80-43C4-8A7F-54D8FCF4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11727-02ED-4614-B8B7-A904AFC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FAISS metadata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0CEC2-5509-4C22-A657-D9D86625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050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2A5E3-23D3-4C42-A645-96676BC0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CF6F5-CC39-42FD-ACD4-2F07C90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CHUNK FIELDS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E101D-E82B-4357-90E2-B71F9151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doc, page, section,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3094C-B6DD-4BC5-B112-45D3406C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CHUNKS PER INDEXED DOCUMENT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3575C-F10A-4832-847B-C270693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Syllabus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B0015-E58A-4D14-918C-85AD09F6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57600"/>
            <a:ext cx="401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14E18-E4FA-4501-8329-D14B1CFF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57600"/>
            <a:ext cx="401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812AE-4C36-4EFA-BBC7-BCF3A23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29025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EA6A6-616B-41EA-8754-CAE906A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Guideline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A1E79-0263-46F8-946A-EE981C6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95750"/>
            <a:ext cx="401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79989-59C3-4A6A-AEDF-277853AD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95750"/>
            <a:ext cx="73082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C2EC7-12FA-4A8E-81D1-8CF1E6ED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67175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2DE9D-2245-4574-9368-154307F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562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D07D1-F3D8-4817-BCFD-42971698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562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C5E2C2-26B0-4D55-B0DE-6A542C9A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7170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864A6-D83B-4251-ACD3-24417AF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321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Extract text page-by-page, clean whitespace, detect headings, recursively split long sections with overlap, and merge tiny tails.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DFAD7-A9AE-43B8-AF26-5C06714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562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AB2DC9-52FF-4F6C-9612-FA02E8F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562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9AE7F-F854-4E3C-80BE-C5C3696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766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Ethics and licensing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D2933-17DF-4118-A833-10C7310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3219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The app stores PDFs locally, does not fine-tune on private documents, and keeps citations so users can audit source bias and licensing boundaries.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1EC30-0A04-4B0E-8516-41F9C47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82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775B9-47C6-4745-941B-E34C7E9F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535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Structure: chunk_id | doc_name | page_start | page_end | section_title | raw_text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A41E4-3DCF-4916-BB69-D1F29E3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5745DD-EC11-439D-B174-EB2AE58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indexes/manifest.json and indexes/chunks.parquet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87810-0E72-4C67-8EA1-D258A20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04 / 09  |  1:00</a:t>
            </a:r>
          </a:p>
        </p:txBody>
      </p:sp>
    </p:spTree>
    <p:extLst>
      <p:ext uri="{BB962C8B-B14F-4D97-AF65-F5344CB8AC3E}">
        <p14:creationId xmlns:p14="http://schemas.microsoft.com/office/powerpoint/2010/main" val="6204036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3541D-F959-4744-9175-61DC1EA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System Design-marker">
            <a:extLst xmlns:a="http://schemas.openxmlformats.org/drawingml/2006/main">
              <a:ext uri="{FF2B5EF4-FFF2-40B4-BE49-F238E27FC236}">
                <a16:creationId xmlns:a16="http://schemas.microsoft.com/office/drawing/2014/main" id="{8298A89F-8A14-4F19-9988-EB8A685E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System Design-label">
            <a:extLst xmlns:a="http://schemas.openxmlformats.org/drawingml/2006/main">
              <a:ext uri="{FF2B5EF4-FFF2-40B4-BE49-F238E27FC236}">
                <a16:creationId xmlns:a16="http://schemas.microsoft.com/office/drawing/2014/main" id="{F4FC58CB-03D6-4838-831E-4FA5E398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S Y S T E M   D E S I G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1128-7DDC-4E3C-AA3C-22B45C17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RAG pipeline keeps ingestion, retrieval, generation, and audit logs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79CBF-AF45-46F7-9D12-5218739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E04C7-50EB-44C3-A3D6-76D9556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00B42-D4D3-4B4E-9CEE-40D7200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CF5DA-F247-44AB-8FC8-41B265E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uploaded local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B9E28-B6EA-4C7B-9369-627F183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7B46B-3191-41E1-916E-5F38E009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5F760-805D-4A23-BC48-E676C91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C5FFC-72CA-4683-8BB7-7547DEE7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pypdf extraction + cleanup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6911B-B309-4C88-8B53-72B47BA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0DC18-0DA0-4AF0-AA92-11C0B696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F5170-BFBF-4B67-8B65-8766DE7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AF0F5-503C-48A3-8DB7-2B9066B4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heading-aware split + overlap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F9E9D-8A56-417C-9DCA-5D9CEE65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FC431-6A04-4A26-993A-87B8F5F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27F17-C9C9-4AFE-B092-0B52012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42057-B6AF-48EB-8DAB-4C3E902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MiniLM embeddings, L2-normalized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BB5AA-D919-49EC-96D0-055F4BF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06DDB-65B2-4B9E-915F-C318345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354A1-0684-4B4C-9309-775FD7D0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FAISS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42C81-316E-4419-B0C0-D072364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IndexFlatIP + parquet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BEDD4-5102-4973-B386-1F0D450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A7EFF-CA27-463E-9E40-572934C0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0CF80-B807-474A-9DBF-C66C645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080C9-0362-4D0D-84A2-3FC17ED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top-k context + strict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8500B-A07E-4E6A-B4DA-B930034B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62200"/>
            <a:ext cx="1219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1AD1A8-B4DB-47A4-A9F9-9CBB768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62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B1FA5-7A4C-48C2-BECF-E690E9B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14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68E58-150E-474B-A766-497D8AE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2892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Gemini/OpenAI + citations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BCF7DD-446D-4DCB-916B-1A16AF4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CEE1D-F73A-41BC-A25F-AEA9D5A7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4F7E48-5EA6-42F1-84A3-CE5E7E15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D23ED7-A508-417D-B668-2643CA6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B12E53-6686-4EF4-9D96-4FE82C0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787F8-D7C0-4D9B-8FE6-344CE26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2E2BB-F875-40AD-8AF5-1387F6CC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B946A2-34B0-4D80-8ECC-E62AFB6B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9F722-24BD-4C6A-AF39-A948736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BCFF35-7F59-4E47-BEC4-E1A25CB8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6F840D-6F28-46DA-BE60-7AA5295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62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323682-60E6-492B-BA44-7DF2B52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146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CC6EF-300D-4F60-9966-8CD996F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939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EDA741-AAC5-47B4-86D2-073993EB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882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Query time: embed question -&gt; retrieve top-k chunks -&gt; block weak scores below 0.25 -&gt; generate only from retrieved context -&gt; log Q&amp;A.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BBEE72-2FF8-4927-8E77-8B058D82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47487D-0FA9-40B8-AF51-70406BE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top_k=4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B6AB58-E224-4A8B-824F-2C65FF05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29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DEFAULT RETRIEVAL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4492CE-28E3-4E00-BC07-B7296DD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0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configurable in sidebar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4C27EE-93F8-4430-9469-CA18B8F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149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AEC0B2-5919-429D-897B-4B92E45B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10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4BB593-43F6-4C23-BD84-A4D5DB77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29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MIN SCORE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2ADE61-FF88-46E8-A9C8-BBA42A74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0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guardrail threshold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857630-F3DE-4B77-A83D-A6FBC0DF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FAB766-389E-4B22-936B-9DCE761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0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disk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B7E77C-4619-4DE3-A051-77C0884A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15A9E0-CB69-45E4-92BD-FECC49F9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faiss.index + chunks.parquet + manifest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3E9456-2048-463D-86D4-D19D15F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149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2D5493-1678-49D5-9D7F-7D8B7C1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10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JSONL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C5C89C-0CB9-446F-BE16-0E67A82F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829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504874-C8E7-4E42-90F3-67DE3A2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0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logs/qa_log.jsonl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EBAE5B-802C-4CC1-8B90-9B48C34A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454424-6C02-428F-831F-6FACED26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src/rag_pipeline.py, src/vector_store.py, src/retriever.py, config.py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22E261-654D-4B91-A8E5-76FDCFDE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05 / 09  |  1:00</a:t>
            </a:r>
          </a:p>
        </p:txBody>
      </p:sp>
    </p:spTree>
    <p:extLst>
      <p:ext uri="{BB962C8B-B14F-4D97-AF65-F5344CB8AC3E}">
        <p14:creationId xmlns:p14="http://schemas.microsoft.com/office/powerpoint/2010/main" val="2918135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03EB6-7A6E-412A-B9AC-B805CA2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ethods-marker">
            <a:extLst xmlns:a="http://schemas.openxmlformats.org/drawingml/2006/main">
              <a:ext uri="{FF2B5EF4-FFF2-40B4-BE49-F238E27FC236}">
                <a16:creationId xmlns:a16="http://schemas.microsoft.com/office/drawing/2014/main" id="{E9675CA7-A05A-4FD8-807B-6557342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ethods-label">
            <a:extLst xmlns:a="http://schemas.openxmlformats.org/drawingml/2006/main">
              <a:ext uri="{FF2B5EF4-FFF2-40B4-BE49-F238E27FC236}">
                <a16:creationId xmlns:a16="http://schemas.microsoft.com/office/drawing/2014/main" id="{646D2FF3-027C-47D5-BEEE-6C22B775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M E T H O D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4D228-9127-43E6-A8A6-FF266721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Reliability comes from conservative model choices and explicit evaluation hooks.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632AD-89ED-4D8A-BD84-ABCAE685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3D704-AD31-45A0-90F5-06927AE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FFCD0-B9D7-4B9A-972A-89470131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Prompting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782D-D651-4D9E-BCAE-D4ECA9E6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System prompt says: answer only from retrieved context, cite sources as [file p.PAGE], and use a fixed refusal when evidence is missing.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44AB-D402-4D0E-A67B-CA72A75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A2FE2-5BBB-4033-8CDF-E5FF183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F93D9-7ACE-46A7-B2A7-56E7C327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D177-60D8-4D92-ACEA-5401F6B3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Same embedding model for chunks and queries; normalized vectors make FAISS inner product behave like cosine similarity.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5C108-1CB1-466F-A9D9-7897565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DA91-CEA0-478F-A455-709FCF0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319D7-31B0-4A63-9230-FDA02F62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rationale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6E9D-C6A0-4979-AFA0-5E1DB9C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MiniLM is the fast default; Arctic/BGE/MPNet are selectable tradeoffs for size, speed, and accuracy.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F04CC-419E-4ECA-A60A-789660A9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12516-B3E4-431D-AF57-0F343273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0EB09-FB89-488C-8913-E48F55B1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24AF6-EBB9-47C3-93DB-7C83649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CSV questions run through retrieval and generation; Hit@k, overlap signals, manual labels, and report figures are produced in one UI tab.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CFE9E-B2F6-407F-A9B3-CBCD555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CA105-9CEE-41EE-9733-2BF1BDF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EF9FF-77AA-4015-A530-0FF9D42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Engineering 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DA052-7201-4A41-8272-1FD183EB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Local single-user app, optional API keys, exact FAISS search at small scale, and LLM calls avoided when retrieval is weak.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6C03-24F5-4A24-ABE0-8D6DEDD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2A672-31F4-433A-85CB-E9AB289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08870-730A-49FF-AFB0-947784F2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Index safety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0436B-16D5-4937-A20D-F2C55DA2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If the sidebar embedding model differs from the manifest, the app resets the stale index and asks the user to rebuild.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9EC8B-28B8-4605-89B3-B792E85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FC5F6-208B-4B6C-A1C3-6C2ACE0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config.py, README.md, Working.md, src/evaluation.py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3BB64-B91C-4AE5-827B-8BA6201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06 / 09  |  1:00</a:t>
            </a:r>
          </a:p>
        </p:txBody>
      </p:sp>
    </p:spTree>
    <p:extLst>
      <p:ext uri="{BB962C8B-B14F-4D97-AF65-F5344CB8AC3E}">
        <p14:creationId xmlns:p14="http://schemas.microsoft.com/office/powerpoint/2010/main" val="14300146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CADA33-2207-422A-91AC-F768151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Final Results-marker">
            <a:extLst xmlns:a="http://schemas.openxmlformats.org/drawingml/2006/main">
              <a:ext uri="{FF2B5EF4-FFF2-40B4-BE49-F238E27FC236}">
                <a16:creationId xmlns:a16="http://schemas.microsoft.com/office/drawing/2014/main" id="{55C26D1D-3F4D-4DEA-A0CF-980561CE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Final Results-label">
            <a:extLst xmlns:a="http://schemas.openxmlformats.org/drawingml/2006/main">
              <a:ext uri="{FF2B5EF4-FFF2-40B4-BE49-F238E27FC236}">
                <a16:creationId xmlns:a16="http://schemas.microsoft.com/office/drawing/2014/main" id="{8FFF0F5F-2B74-42E5-AA24-80A08352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F I N A L   R E S U L T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97E65-C94F-46BB-94AE-C0A00CA3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On the bundled 11-question test, retrieval placed the gold source at rank 1 every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726B-98AC-48DC-B179-12A02AD7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RETRIEVAL HIT@K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2829A-730C-451E-86E4-CD396BD4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AADE7-1AD1-49B4-84E2-38E5B451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1B556-1CF1-4C9E-AF93-2E4B4C4D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8125F-73F4-4CD6-A1E0-4FDD5FD2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Hit@1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6E12D-52F2-4225-BFE7-0582394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AE96F-ECF6-4E97-BCB8-AAAB8D0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B9498-F210-42BA-886A-B9E09D8B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BBD73-2FBF-447F-8D19-D36E6FB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569CD-9BFE-44AC-AF88-AD012A80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Hit@3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D0889-02B3-429E-AD0F-44C4F0E3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20754-AEC7-498A-B17C-F748DB7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47B20-CA3D-4C40-9B3E-C28C1AF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8DD5B-76B3-42FB-93E9-6FBC543E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AA03A-F8EF-40A0-9106-CD37E5C2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Hit@5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E3AA-8043-48F6-859D-193CE09B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76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189A6-8DC9-4631-B88B-446EA3C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7D39C-5073-4016-9565-894BDA3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66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DC659-2B83-48D5-8AAD-F5607739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A1305-C00F-4D00-8C14-3390707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673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Hit@10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40B4E-805F-48DC-B3A4-32B93A2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76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8079E-8C06-4EA6-A081-9A3697D6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F486A-2980-4DB0-87EB-249823A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92FEF-66F2-4980-9F90-3F7FAEC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 distribution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6F85F-D801-4E76-AF32-D28A2B2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194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989CD-C071-4878-BBC7-AE1201FC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0.475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2D8C0-D8DD-45E2-A01A-EADDF4F4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MEAN TOP-1 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A8717-BA88-40B8-AF00-A060E3B9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min 0.319, max 0.625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63FD83-DA1B-4DC4-8893-5DDBEA1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748FBE-AFDB-4F45-8001-06826F94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9185D-9E22-4A2F-B028-CB791AD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D4D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D4D4"/>
                </a:solidFill>
                <a:latin typeface="Aptos"/>
                <a:ea typeface="Aptos"/>
                <a:cs typeface="Aptos"/>
              </a:rPr>
              <a:t>GUARDRAIL THRESHOLD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09623-1003-4699-BA46-00FFB444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BE2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BE2E2"/>
                </a:solidFill>
                <a:latin typeface="Aptos"/>
                <a:ea typeface="Aptos"/>
                <a:cs typeface="Aptos"/>
              </a:rPr>
              <a:t>all eval top scores passed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D3DA6-A01E-4FF7-9724-268CF82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Logged usage: 45 Gemini questions -&gt; 27 grounded answers and 18 unsupported/refusal outcomes.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550A92-63BD-42FE-99F8-DE7AE90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EFF652-D56A-4C9A-992A-F2B3C99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reports/figures/ranks_debug.csv and logs/qa_log.jsonl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D280C-C314-4CC0-B0E7-D50F9178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07 / 09  |  1:00</a:t>
            </a:r>
          </a:p>
        </p:txBody>
      </p:sp>
    </p:spTree>
    <p:extLst>
      <p:ext uri="{BB962C8B-B14F-4D97-AF65-F5344CB8AC3E}">
        <p14:creationId xmlns:p14="http://schemas.microsoft.com/office/powerpoint/2010/main" val="3397032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04A6C-630C-4437-A5DF-DB30C150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Qualitative Results-marker">
            <a:extLst xmlns:a="http://schemas.openxmlformats.org/drawingml/2006/main">
              <a:ext uri="{FF2B5EF4-FFF2-40B4-BE49-F238E27FC236}">
                <a16:creationId xmlns:a16="http://schemas.microsoft.com/office/drawing/2014/main" id="{A997C9ED-8A23-43F8-90CA-BAB04782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Qualitative Results-label">
            <a:extLst xmlns:a="http://schemas.openxmlformats.org/drawingml/2006/main">
              <a:ext uri="{FF2B5EF4-FFF2-40B4-BE49-F238E27FC236}">
                <a16:creationId xmlns:a16="http://schemas.microsoft.com/office/drawing/2014/main" id="{859FC418-14DC-4BE2-A815-25228A9D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Q U A L I T A T I V E   R E S U L T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69BB8-455E-4A81-A92C-48037934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strongest behavior is not just answering; it is knowing when to stay silent.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0B43A-C384-4FE2-9A95-F9EBF5C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629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12B8D-E516-40B0-B7AF-1778394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62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3EB1B-CD49-4011-A089-6333604F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Supported answer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B6083-519F-4450-B963-1B09BF08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286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Question: What is the total presentation time?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Observed answer: 8 minutes, cited to the final presentation guideline page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Why it matters: the answer is short, sourced, and traceable.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AA8B8-8FF7-45B4-96FB-57929D9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629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069DC-7532-4DEE-86FD-8B8AC08B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62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34AC3-8DBE-4FA7-8A9E-61225D7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Unsupported answer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2E5BA-5EE8-47A7-B312-57D7DB8F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4286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Question: When is Assignment 1 due?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Observed answer: I could not find a supported answer in the uploaded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Why it matters: the system avoids inventing a deadline.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67D6E-13C8-4230-91C9-B1404D9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95577-A405-4DD5-BF91-3ECF19C4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21118-5FA1-4A0C-B888-1F290649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COMPARATIVE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2002B-7E47-4525-9801-2D7B84B2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70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195A3-44D8-4F3A-BCF4-740D8CB1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005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Without RAG: fluent but unverifiable answers.  With RAG: citations and retrieved chunks.  With guardrail: weak retrieval becomes an explicit refusal.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658D0-F367-46BA-8C28-5D5E0F9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53100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Representative failure trend: short or ambiguous queries can retrieve weaker chunks; more specific wording improves retrieval and grounding.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07580-639C-45FC-B253-148B161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7FE17-97C1-4EA0-97FC-2FD5EB9C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logs/qa_log.jsonl and README.md evaluation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D77DF-6DEC-40A2-9BBE-C2D8F9E1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08 / 09  |  1:00</a:t>
            </a:r>
          </a:p>
        </p:txBody>
      </p:sp>
    </p:spTree>
    <p:extLst>
      <p:ext uri="{BB962C8B-B14F-4D97-AF65-F5344CB8AC3E}">
        <p14:creationId xmlns:p14="http://schemas.microsoft.com/office/powerpoint/2010/main" val="8611017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7A89C-0FDE-4D9F-BCED-CCBC900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Reflection-marker">
            <a:extLst xmlns:a="http://schemas.openxmlformats.org/drawingml/2006/main">
              <a:ext uri="{FF2B5EF4-FFF2-40B4-BE49-F238E27FC236}">
                <a16:creationId xmlns:a16="http://schemas.microsoft.com/office/drawing/2014/main" id="{AD1A085F-8E57-4D05-ABF8-FE9CB7D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eflection-label">
            <a:extLst xmlns:a="http://schemas.openxmlformats.org/drawingml/2006/main">
              <a:ext uri="{FF2B5EF4-FFF2-40B4-BE49-F238E27FC236}">
                <a16:creationId xmlns:a16="http://schemas.microsoft.com/office/drawing/2014/main" id="{ED66FC05-2433-438D-8749-B40A494C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R E F L E C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E27AC-BC0F-42CC-8842-A8574F9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project became a complete RAG product, but the evaluation should grow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86205-76D7-4592-A75D-13236E6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2CDB4-B3B7-4A46-B6B5-8FF9E59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213F3-91FC-45D5-A0DE-5579621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F694-C48E-48B8-8589-AB592A63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876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Grounding is a system property, not only a prompt. Chunk metadata, retrieval thresholds, citations, and logs all work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2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The most useful evaluation separates retrieval failure from generation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53E62-A9D9-4289-A96B-F1FE3AC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5607F-4AC7-4715-BE82-9E5E031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282EC-7611-4D17-A96F-1B22EBB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F5A72-8947-49D3-8F45-E688F5D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76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Current corpus is small: 2 PDFs, 10 pages, 11 bundled evaluation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2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No saved human-labeled result CSV was available, and pypdf will fail on scanned documents without OCR.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39F22-7D99-49F5-8043-9EFF07E1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DD076-B4EC-42CD-8584-B3C4677E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2BEB0-57E7-4158-B264-BCBFC09F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242E2-3BC2-4D55-B1F8-93FC54B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876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Add OCR, hybrid BM25 + embedding retrieval, a cross-encoder reranker, per-course namespaces, an answer-grounding checker, and response caching for evaluation sweeps.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DF01B-9EC9-4A3C-BCD8-C7C65A7B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1024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68A2C-46E9-46E6-A490-06FDE14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967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Major changes since midterm: persistent FAISS index, embedding-model selector, stale-index reset, document management, evaluation tab, report figures, and JSONL logging.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C1185-D951-445B-8C49-1395F23E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DA3EC-6E81-4C90-854D-426D9D2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Sources: README.md limitations/future improvements and Working.md reliability section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7649F-AB62-468B-8C8F-B4B9955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908A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08A80"/>
                </a:solidFill>
                <a:latin typeface="Aptos"/>
                <a:ea typeface="Aptos"/>
                <a:cs typeface="Aptos"/>
              </a:rPr>
              <a:t>09 / 09  |  1:00</a:t>
            </a:r>
          </a:p>
        </p:txBody>
      </p:sp>
    </p:spTree>
    <p:extLst>
      <p:ext uri="{BB962C8B-B14F-4D97-AF65-F5344CB8AC3E}">
        <p14:creationId xmlns:p14="http://schemas.microsoft.com/office/powerpoint/2010/main" val="690604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2026-05-03T22:50:48.3650000Z</dcterms:created>
  <dcterms:modified xsi:type="dcterms:W3CDTF">2026-05-03T22:50:48.3650000Z</dcterms:modified>
</coreProperties>
</file>