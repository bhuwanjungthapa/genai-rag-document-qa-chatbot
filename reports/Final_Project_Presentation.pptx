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63" r:id="rId9"/>
    <p:sldId id="267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6"/>
  </p:normalViewPr>
  <p:slideViewPr>
    <p:cSldViewPr snapToGrid="0" snapToObjects="1">
      <p:cViewPr varScale="1">
        <p:scale>
          <a:sx n="116" d="100"/>
          <a:sy n="116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53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~30 seconds.</a:t>
            </a:r>
          </a:p>
          <a:p>
            <a:endParaRPr/>
          </a:p>
          <a:p>
            <a:r>
              <a:t>SAY: 'Good &lt;morning/afternoon&gt;. Our project is a Retrieval-Augmented Generation chatbot that answers questions about uploaded course PDFs. Every answer is grounded in retrieved passages and shown with a citation, so the user can verify it. We also added a parameter-efficient fine-tuning experiment using LoRA on FLAN-T5-small as a research-level comparison.'</a:t>
            </a:r>
          </a:p>
          <a:p>
            <a:endParaRPr/>
          </a:p>
          <a:p>
            <a:r>
              <a:t>ACTION: Introduce yourself and your teammates here. Edit the team names placeholder in this slide. Keep it short — move on at 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~45 seconds (1st of two intro slides).</a:t>
            </a:r>
          </a:p>
          <a:p>
            <a:endParaRPr/>
          </a:p>
          <a:p>
            <a:r>
              <a:t>SAY: 'Course documents — syllabi, project requirements, presentation guidelines — are the kind of thing students re-read constantly. A naive LLM will happily make up a deadline or a grading weight, and that is genuinely harmful. So our research question was: can we build a chatbot that ONLY answers from the actual document, refuses when the document does not support an answer, and always shows where its answer came from? That single principle — refuse rather than hallucinate — drives every design choice.'</a:t>
            </a:r>
          </a:p>
          <a:p>
            <a:endParaRPr/>
          </a:p>
          <a:p>
            <a:r>
              <a:t>EMPHASIZE: This project touches every CSE 534 topic — prompting, retrieval, fine-tuning,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~45 seconds.</a:t>
            </a:r>
          </a:p>
          <a:p>
            <a:endParaRPr/>
          </a:p>
          <a:p>
            <a:r>
              <a:t>SAY: 'Concretely: input is a free-form question, output is an answer grounded in the document. The hard requirement is no invention — if the document does not support an answer, the bot returns a fixed refusal sentence. Every answer also includes citations like Syllabus.pdf p.3, and every interaction is logged so a grader can reproduce why the bot said what it said. As a research extension we also fine-tune a small model with LoRA on QA pairs derived from the same chunks, and we compare it against the RAG baseline.'</a:t>
            </a:r>
          </a:p>
          <a:p>
            <a:endParaRPr/>
          </a:p>
          <a:p>
            <a:r>
              <a:t>TRANSITION: 'Now let me show you what data this is built 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~1 minute.</a:t>
            </a:r>
          </a:p>
          <a:p>
            <a:endParaRPr/>
          </a:p>
          <a:p>
            <a:r>
              <a:t>SAY: 'Our corpus is the actual CSE 534 course material — four PDFs: the syllabus, the project requirements, the midterm check, and the presentation guideline. We extract page-level text with pypdf, clean whitespace, and run a heading-aware chunker that first splits on section titles like "Grading Policy" or "Schedule" and then recursively splits long sections into 800-character chunks with 150 characters of overlap. Tiny stub chunks are merged backward.'</a:t>
            </a:r>
          </a:p>
          <a:p>
            <a:endParaRPr/>
          </a:p>
          <a:p>
            <a:r>
              <a:t>SAY: 'For evaluation we wrote a 25-question gold CSV that names the expected supporting document and page for each question. For the LoRA experiment we automatically generated 117 template-based grounded QA pairs from the chunks — split into 94 training and 23 evaluation examples with a fixed seed.'</a:t>
            </a:r>
          </a:p>
          <a:p>
            <a:endParaRPr/>
          </a:p>
          <a:p>
            <a:r>
              <a:t>ETHICS: Mention briefly: data is user-uploaded, indexing runs locally, no PII in syllabi, only the LLM call hits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~1 minute (slide 1 of 2 in methods).</a:t>
            </a:r>
          </a:p>
          <a:p>
            <a:endParaRPr/>
          </a:p>
          <a:p>
            <a:r>
              <a:t>WALK THE DIAGRAM TOP TO BOTTOM:</a:t>
            </a:r>
          </a:p>
          <a:p>
            <a:endParaRPr/>
          </a:p>
          <a:p>
            <a:r>
              <a:t>SAY: 'The top row is INGEST. Each uploaded PDF is read page-by-page with pypdf, split into roughly 800-character section-aware chunks, embedded with all-MiniLM-L6-v2 into 384-dimensional L2-normalized vectors, and stored in a flat FAISS index that is persisted to disk.'</a:t>
            </a:r>
          </a:p>
          <a:p>
            <a:endParaRPr/>
          </a:p>
          <a:p>
            <a:r>
              <a:t>SAY: 'The bottom row is QUERY. The user question is embedded with the exact same model so the question vector lives in the same space as the chunk vectors — that is what the long arrow in the middle is showing. Top-k retrieval pulls the closest chunks using dense FAISS, sparse BM25, or a weighted hybrid. Then comes the single most important box on the slide — the confidence guardrail. If the top similarity score is below 0.25, the pipeline refuses to even call the LLM, returning a fixed unsupported sentence. That one check is our primary anti-hallucination defense.'</a:t>
            </a:r>
          </a:p>
          <a:p>
            <a:endParaRPr/>
          </a:p>
          <a:p>
            <a:r>
              <a:t>SAY: 'Only when retrieval is strong does the question plus chunks go to the LLM under a strict prompt that forces context-only answers and citations like [Syllabus.pdf p.3]. The final answer is shown to the user with the citations and the retrieved chunks for transparency.'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~1 minute (slide 2 of 2 in methods).</a:t>
            </a:r>
          </a:p>
          <a:p>
            <a:endParaRPr/>
          </a:p>
          <a:p>
            <a:r>
              <a:t>SAY: 'A few design choices worth calling out. First, we use a small sentence-transformer by default — MiniLM-L6-v2 — because it is fast, free, and well-understood, but the sidebar lets us swap in BGE or MPNet and rebuild the index without code changes. Second, we use a weighted hybrid of dense FAISS and BM25 sparse retrieval, because course documents contain very specific terms — week numbers, course codes — that benefit from exact keyword matching, while semantics still helps for paraphrased questions.'</a:t>
            </a:r>
          </a:p>
          <a:p>
            <a:endParaRPr/>
          </a:p>
          <a:p>
            <a:r>
              <a:t>SAY: 'Third, the prompt is intentionally strict — the LLM is told to refuse with a fixed sentence if the context does not support an answer, and we detect that exact sentence to mark the answer as ungrounded.'</a:t>
            </a:r>
          </a:p>
          <a:p>
            <a:endParaRPr/>
          </a:p>
          <a:p>
            <a:r>
              <a:t>SAY (LoRA): 'For fine-tuning, we ran a real LoRA experiment, not just a placeholder. We took FLAN-T5-small, FROZE the entire base model, and trained a tiny adapter — about 1.3 megabytes of weights — on just the query and value attention layers, using 99 question-answer pairs we generated from our own PDFs. The whole thing trains in a few minutes on a Mac CPU, and the held-out Jaccard score went up to roughly 0.68, so the adapter actually learned the document style.'</a:t>
            </a:r>
          </a:p>
          <a:p>
            <a:endParaRPr/>
          </a:p>
          <a:p>
            <a:r>
              <a:t>SAY (QLoRA): 'We also wired in QLoRA as an OPTIONAL path. QLoRA needs an NVIDIA GPU and the bitsandbytes library, neither of which exist on a Mac, so the app exposes it as a one-click readiness check that correctly reports "not available" on this machine. The actual experiment we run end-to-end is plain LoRA.'</a:t>
            </a:r>
          </a:p>
          <a:p>
            <a:endParaRPr/>
          </a:p>
          <a:p>
            <a:r>
              <a:t>SAY (engineering): 'Three pragmatic choices worth flagging. One — every LLM call uses low temperature (0.1) and a tight prompt to keep cost and rate limits in check. Two — training and indexing are CPU-only, no GPU required. And three — every index we build ships with a manifest.json that records the embedding model and chunk settings; if a teammate switches the embedding model in the sidebar, the app detects the mismatch and CLEARS the stale index automatically — that prevents the silent failure of querying with one model while the index was built with another.'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~1 minute (slide 1 of 2 in results).</a:t>
            </a:r>
          </a:p>
          <a:p>
            <a:endParaRPr/>
          </a:p>
          <a:p>
            <a:r>
              <a:t>SAY: 'On 25 gold questions, retrieval finds the right document and page in the top-k chunks 96% of the time. The model refused (returned the unsupported sentence) in only 4% of cases, and our heuristic + manual labels show 52% correct answers and 0% hallucinations. BERTScore F1 against the gold answers is 0.77, semantic similarity is 0.61, and the calibration ECE — how well the retrieval confidence score lines up with empirical correctness — is 0.139, which is reasonable for an unblinded run.'</a:t>
            </a:r>
          </a:p>
          <a:p>
            <a:endParaRPr/>
          </a:p>
          <a:p>
            <a:r>
              <a:t>BACKUP IF ASKED ABOUT PRECISION/RECALL: 'BERTScore precision is 0.71 and recall is 0.84. Recall higher than precision means our answers cover the gold thoroughly but tend to be a bit verbose — citations, surrounding context, hedging — which lines up with the Partially Correct bucket on the slide-8 heatmap.'</a:t>
            </a:r>
          </a:p>
          <a:p>
            <a:endParaRPr/>
          </a:p>
          <a:p>
            <a:r>
              <a:t>SAY: 'For the LoRA experiment we trained for 3 epochs on 99 examples in about 3 minutes on CPU and reached an eval loss of 0.332 and a held-out Jaccard overlap of 0.677 against template-generated gold answers. That is a useful research baseline; we will discuss its limits in a moment.'</a:t>
            </a:r>
          </a:p>
          <a:p>
            <a:endParaRPr/>
          </a:p>
          <a:p>
            <a:r>
              <a:t>POINT TO FIGURES: Left chart shows Hit@k bars; explain that Hit@1 vs Hit@10 gap indicates rank quality. Right chart shows calibration buckets — emphasize that low ECE means confidence 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~1 minute (slide 2 of 2 in results).</a:t>
            </a:r>
          </a:p>
          <a:p>
            <a:endParaRPr/>
          </a:p>
          <a:p>
            <a:r>
              <a:t>SAY: 'Qualitatively the most informative comparison is the LoRA adapter side-by-side. The base FLAN-T5-small often drifts away from the supplied context and rarely cites the source; the LoRA-adapted version reliably mirrors the training style — answer from context, end with a [doc.pdf p.N] citation. That is exactly the behavior we wanted to teach.'</a:t>
            </a:r>
          </a:p>
          <a:p>
            <a:endParaRPr/>
          </a:p>
          <a:p>
            <a:r>
              <a:t>SAY: 'A representative correct refusal: when we ask something the corpus does not cover, the guardrail short-circuits, the answer is the fixed unsupported sentence, and citations stay empty. We log this as grounded=False so we can audit it later.'</a:t>
            </a:r>
          </a:p>
          <a:p>
            <a:endParaRPr/>
          </a:p>
          <a:p>
            <a:r>
              <a:t>POINT TO HEATMAP: 'The heatmap on the left is the figure that actually separates retrieval failure from generation failure. The bottom-left cell — retrieval missed but the bot correctly refused — is the guardrail earning its keep. The top-right cell — retrieval succeeded but the bot hallucinated — would be a generation problem; in our run that bucket is empty.'</a:t>
            </a:r>
          </a:p>
          <a:p>
            <a:endParaRPr/>
          </a:p>
          <a:p>
            <a:r>
              <a:t>COMPARATIVE: 'With RAG vs without RAG: a raw LLM with no context happily fabricates page numbers and grading weights; with RAG it either cites real text or refuses. With LoRA vs without LoRA: the adapter learned the answer style but cannot replace retrieval for a corpus the user can change at any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TIME: ~1 minute (closing slide).</a:t>
            </a:r>
          </a:p>
          <a:p>
            <a:endParaRPr/>
          </a:p>
          <a:p>
            <a:r>
              <a:t>REFLECTION: 'Two lessons stood out. First, simple prompt engineering plus a hard confidence threshold did more for trust than any model swap. Second, hybrid retrieval beat dense-only on questions that contained exact course terms.'</a:t>
            </a:r>
          </a:p>
          <a:p>
            <a:endParaRPr/>
          </a:p>
          <a:p>
            <a:r>
              <a:t>LIMITATIONS: 'pypdf has no OCR, so any scanned PDF will silently produce empty text. Our heading detector is a regex heuristic and misses unusual layouts. The LoRA experiment is intentionally honest — the QA pairs are template-generated from the chunks, so the adapter mostly learns answer FORMAT rather than new knowledge. And QLoRA would need a CUDA GPU; we ship a readiness check that correctly reports it as unavailable on a Mac.'</a:t>
            </a:r>
          </a:p>
          <a:p>
            <a:endParaRPr/>
          </a:p>
          <a:p>
            <a:r>
              <a:t>FUTURE WORK: 'Realistic next steps: add OCR for scanned PDFs, rerank retrieved chunks with a small cross-encoder, run QLoRA on a free Colab T4 for a true 4-bit comparison, and replace the template QA pairs with human-written ones evaluated with BERTScore.'</a:t>
            </a:r>
          </a:p>
          <a:p>
            <a:endParaRPr/>
          </a:p>
          <a:p>
            <a:r>
              <a:t>CLOSING SENTENCE: 'Thanks — happy to take questions, especially about the retrieval guardrail or the LoRA-vs-base comparison.'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Generative AI RAG Document Q&amp;A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86A33"/>
                </a:solidFill>
              </a:defRPr>
            </a:pPr>
            <a:r>
              <a:t>Grounded answers from uploaded course PDFs, with citations and a LoRA fine-tuning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Team: &lt;add team member names here&gt;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Course: CSE 434 / 534 — Generative AI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— Why a grounded course-PDF chatbot?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Problem: students and instructors waste time searching syllabi, project specs, and policy docs.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Generic LLMs hallucinate facts about deadlines, grading, and policies — that is unsafe to trust.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We need a system that answers ONLY from the uploaded documents and shows the source.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Course connections covered:  Prompt engineering  •  Retrieval-Augmented Generation  •  Parameter-efficient fine-tuning (LoRA)  •  Evaluation methodology (Hit@k, BERTScore, calibration, manual labels).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Goal: a local-first, transparent, trustworthy Q&amp;A chatbot — not a magic oracle.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Input: a user question + a corpus of PDFs the user uploaded.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Output: a concise answer grounded in retrieved passages, with citations [filename p.PAGE].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Hard constraint: if no passage supports an answer, the bot must say so and refuse — no invention.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Auditability: every Q&amp;A is logged so any answer can be traced back to its retrieved chunks.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Stretch goal: compare RAG against a parameter-efficient fine-tuned model (LoRA on FLAN-T5-small).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rPr sz="1500" dirty="0"/>
              <a:t>Source: </a:t>
            </a:r>
            <a:r>
              <a:rPr lang="en-US" sz="1500" dirty="0"/>
              <a:t>PDF </a:t>
            </a:r>
            <a:r>
              <a:rPr lang="en-US" sz="1500" dirty="0" err="1"/>
              <a:t>uploadable</a:t>
            </a:r>
            <a:r>
              <a:rPr lang="en-US" sz="1500" dirty="0"/>
              <a:t> by the User. ( for example, during test: </a:t>
            </a:r>
            <a:r>
              <a:rPr sz="1500" dirty="0"/>
              <a:t>CSE 534 course PDFs uploaded into the app </a:t>
            </a:r>
            <a:r>
              <a:rPr lang="en-US" sz="1500" dirty="0"/>
              <a:t>=&gt; </a:t>
            </a:r>
            <a:r>
              <a:rPr sz="1500" dirty="0"/>
              <a:t>Syllabus, Project Requirement, Midterm Project Check, and Final Project Presentation Guideline.</a:t>
            </a:r>
            <a:r>
              <a:rPr lang="en-US" sz="1500" dirty="0"/>
              <a:t>)</a:t>
            </a:r>
            <a:endParaRPr sz="1500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rPr sz="1500" dirty="0"/>
              <a:t>Preprocessing: </a:t>
            </a:r>
            <a:r>
              <a:rPr sz="1500" dirty="0" err="1"/>
              <a:t>py</a:t>
            </a:r>
            <a:r>
              <a:rPr lang="en-US" sz="1500" dirty="0"/>
              <a:t>-</a:t>
            </a:r>
            <a:r>
              <a:rPr sz="1500" dirty="0"/>
              <a:t>pdf page extraction → whitespace cleanup → heading-aware section splitting → recursive char split (</a:t>
            </a:r>
            <a:r>
              <a:rPr sz="1500" dirty="0" err="1"/>
              <a:t>chunk_size</a:t>
            </a:r>
            <a:r>
              <a:rPr sz="1500" dirty="0"/>
              <a:t> 800, overlap 150) → tiny-chunk merge (min 250 chars).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rPr sz="1500" dirty="0"/>
              <a:t>Indexed corpus: 4 PDFs, dozens of chunks, embedded with sentence-transformers all-MiniLM-L6-v2 into a FAISS </a:t>
            </a:r>
            <a:r>
              <a:rPr sz="1500" dirty="0" err="1"/>
              <a:t>IndexFlatIP</a:t>
            </a:r>
            <a:r>
              <a:rPr sz="15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rPr sz="1500" dirty="0"/>
              <a:t>Evaluation set: a 25-question gold CSV (eval/</a:t>
            </a:r>
            <a:r>
              <a:rPr sz="1500" dirty="0" err="1"/>
              <a:t>sample_eval_questions.csv</a:t>
            </a:r>
            <a:r>
              <a:rPr sz="1500" dirty="0"/>
              <a:t>) with question, </a:t>
            </a:r>
            <a:r>
              <a:rPr sz="1500" dirty="0" err="1"/>
              <a:t>gold_answer</a:t>
            </a:r>
            <a:r>
              <a:rPr sz="1500" dirty="0"/>
              <a:t>, </a:t>
            </a:r>
            <a:r>
              <a:rPr sz="1500" dirty="0" err="1"/>
              <a:t>gold_doc</a:t>
            </a:r>
            <a:r>
              <a:rPr sz="1500" dirty="0"/>
              <a:t>, </a:t>
            </a:r>
            <a:r>
              <a:rPr sz="1500" dirty="0" err="1"/>
              <a:t>gold_page</a:t>
            </a:r>
            <a:r>
              <a:rPr sz="1500" dirty="0"/>
              <a:t> columns.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rPr sz="1500" dirty="0" err="1"/>
              <a:t>LoRA</a:t>
            </a:r>
            <a:r>
              <a:rPr sz="1500" dirty="0"/>
              <a:t> fine-tuning data: 117 template-based grounded QA pairs auto-generated from the indexed chunks (94 train / 23 eval, fixed seed for reproducibility).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rPr sz="1500" dirty="0"/>
              <a:t>Ethics: only user-uploaded course PDFs (no scraping); all retrieval runs locally; only the LLM call leaves the machine.</a:t>
            </a:r>
          </a:p>
        </p:txBody>
      </p:sp>
      <p:pic>
        <p:nvPicPr>
          <p:cNvPr id="5" name="Picture 4" descr="fig1_chunks_per_doc.png">
            <a:extLst>
              <a:ext uri="{FF2B5EF4-FFF2-40B4-BE49-F238E27FC236}">
                <a16:creationId xmlns:a16="http://schemas.microsoft.com/office/drawing/2014/main" id="{74E5D170-261B-A7D3-1224-FCB6B1E03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8063"/>
            <a:ext cx="6199668" cy="2651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A4593-1870-5DC8-7909-F1B023A1FCEF}"/>
              </a:ext>
            </a:extLst>
          </p:cNvPr>
          <p:cNvSpPr txBox="1"/>
          <p:nvPr/>
        </p:nvSpPr>
        <p:spPr>
          <a:xfrm>
            <a:off x="6949440" y="4146602"/>
            <a:ext cx="484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2222"/>
                </a:solidFill>
              </a:defRPr>
            </a:pPr>
            <a:r>
              <a:rPr dirty="0"/>
              <a:t>Stack at a glance: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• Embeddings: sentence-transformers </a:t>
            </a:r>
            <a:r>
              <a:rPr lang="en-US" dirty="0"/>
              <a:t>(</a:t>
            </a:r>
            <a:r>
              <a:rPr lang="en-US" sz="1400" dirty="0"/>
              <a:t>all-MiniLM-L6-v2)</a:t>
            </a:r>
            <a:endParaRPr dirty="0"/>
          </a:p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• Index: FAISS </a:t>
            </a:r>
            <a:r>
              <a:rPr dirty="0" err="1"/>
              <a:t>IndexFlatIP</a:t>
            </a:r>
            <a:r>
              <a:rPr dirty="0"/>
              <a:t> —</a:t>
            </a:r>
            <a:r>
              <a:rPr lang="en-US" dirty="0"/>
              <a:t>&gt;</a:t>
            </a:r>
            <a:r>
              <a:rPr dirty="0"/>
              <a:t> exact search at this scale.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• Retrieval: Dense FAISS, sparse BM25, or hybrid score fusion.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Methods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INGEST (top row) — each PDF is split into section-aware chunks, embedded with all-MiniLM-L6-v2, and stored as L2-normalized vectors in a FAISS index.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QUERY (bottom row) — the same model embeds the question; top-k chunks are retrieved (dense / BM25 / hybrid) and a confidence guardrail short-circuits the LLM call when retrieval is weak.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GENERATE — only the retrieved chunks plus the question reach the LLM under a strict context-only prompt that forces citations as [filename p.PAGE].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3A5C"/>
                </a:solidFill>
              </a:rPr>
              <a:t>INGEST  (build the 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43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6A33"/>
                </a:solidFill>
              </a:rPr>
              <a:t>QUERY  (answer a question)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5" y="2788920"/>
            <a:ext cx="1783080" cy="868680"/>
          </a:xfrm>
          <a:prstGeom prst="roundRect">
            <a:avLst/>
          </a:prstGeom>
          <a:solidFill>
            <a:srgbClr val="DCE6F0"/>
          </a:solidFill>
          <a:ln w="15875">
            <a:solidFill>
              <a:srgbClr val="1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PDFs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uploaded course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9815" y="2788920"/>
            <a:ext cx="1783080" cy="868680"/>
          </a:xfrm>
          <a:prstGeom prst="roundRect">
            <a:avLst/>
          </a:prstGeom>
          <a:solidFill>
            <a:srgbClr val="DCE6F0"/>
          </a:solidFill>
          <a:ln w="15875">
            <a:solidFill>
              <a:srgbClr val="1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Pages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pypdf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per-page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2936" y="2788920"/>
            <a:ext cx="1783080" cy="868680"/>
          </a:xfrm>
          <a:prstGeom prst="roundRect">
            <a:avLst/>
          </a:prstGeom>
          <a:solidFill>
            <a:srgbClr val="DCE6F0"/>
          </a:solidFill>
          <a:ln w="15875">
            <a:solidFill>
              <a:srgbClr val="1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Chunks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heading-aware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+ recursive split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(800 chars, overlap 150)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6055" y="2788920"/>
            <a:ext cx="1783080" cy="868680"/>
          </a:xfrm>
          <a:prstGeom prst="roundRect">
            <a:avLst/>
          </a:prstGeom>
          <a:solidFill>
            <a:srgbClr val="DCE6F0"/>
          </a:solidFill>
          <a:ln w="15875">
            <a:solidFill>
              <a:srgbClr val="1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Vectors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MiniLM-L6-v2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384-d embeddings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L2-normalized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9176" y="2788920"/>
            <a:ext cx="1783080" cy="868680"/>
          </a:xfrm>
          <a:prstGeom prst="roundRect">
            <a:avLst/>
          </a:prstGeom>
          <a:solidFill>
            <a:srgbClr val="FCCCA0"/>
          </a:solidFill>
          <a:ln w="15875">
            <a:solidFill>
              <a:srgbClr val="1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FAISS Index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IndexFlatIP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persisted on disk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79776" y="3223260"/>
            <a:ext cx="320039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82896" y="3223260"/>
            <a:ext cx="320040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86016" y="3223260"/>
            <a:ext cx="320039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89136" y="3223260"/>
            <a:ext cx="320040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6695" y="4617720"/>
            <a:ext cx="1783080" cy="868680"/>
          </a:xfrm>
          <a:prstGeom prst="roundRect">
            <a:avLst/>
          </a:prstGeom>
          <a:solidFill>
            <a:srgbClr val="F7E0CE"/>
          </a:solidFill>
          <a:ln w="15875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User question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free-form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text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9815" y="4617720"/>
            <a:ext cx="1783080" cy="868680"/>
          </a:xfrm>
          <a:prstGeom prst="roundRect">
            <a:avLst/>
          </a:prstGeom>
          <a:solidFill>
            <a:srgbClr val="F7E0CE"/>
          </a:solidFill>
          <a:ln w="15875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Top-k retrieval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Dense / BM25 /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hybrid (α = 0.65)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top-k =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4617720"/>
            <a:ext cx="1783080" cy="868680"/>
          </a:xfrm>
          <a:prstGeom prst="roundRect">
            <a:avLst/>
          </a:prstGeom>
          <a:solidFill>
            <a:srgbClr val="F7E0CE"/>
          </a:solidFill>
          <a:ln w="15875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Confidence
guardrail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if top score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&lt; min_score (0.25)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→ refuse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6055" y="4617720"/>
            <a:ext cx="1783080" cy="868680"/>
          </a:xfrm>
          <a:prstGeom prst="roundRect">
            <a:avLst/>
          </a:prstGeom>
          <a:solidFill>
            <a:srgbClr val="F7E0CE"/>
          </a:solidFill>
          <a:ln w="15875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LLM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Gemini-1.5-flash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or GPT-4o-mini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(strict prompt)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9176" y="4617720"/>
            <a:ext cx="1783080" cy="868680"/>
          </a:xfrm>
          <a:prstGeom prst="roundRect">
            <a:avLst/>
          </a:prstGeom>
          <a:solidFill>
            <a:srgbClr val="F7E0CE"/>
          </a:solidFill>
          <a:ln w="15875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Answer +
citations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[file p.PAGE]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grounded or refused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79776" y="5052059"/>
            <a:ext cx="320039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82896" y="5052059"/>
            <a:ext cx="320040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86016" y="5052059"/>
            <a:ext cx="320039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89136" y="5052059"/>
            <a:ext cx="320040" cy="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00715" y="3657600"/>
            <a:ext cx="0" cy="480060"/>
          </a:xfrm>
          <a:prstGeom prst="line">
            <a:avLst/>
          </a:prstGeom>
          <a:ln w="2222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91355" y="4137660"/>
            <a:ext cx="6309360" cy="0"/>
          </a:xfrm>
          <a:prstGeom prst="line">
            <a:avLst/>
          </a:prstGeom>
          <a:ln w="2222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91355" y="4137660"/>
            <a:ext cx="0" cy="480060"/>
          </a:xfrm>
          <a:prstGeom prst="line">
            <a:avLst/>
          </a:prstGeom>
          <a:ln w="22225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82795" y="3845052"/>
            <a:ext cx="6126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A4A4A"/>
                </a:solidFill>
              </a:rPr>
              <a:t>retrieve  (same vector space ⇒ same embedding model)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669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QUERY reads from the FAISS index built by INGEST. The confidence guardrail short-circuits the LLM call when retrieval is weak — this is the primary anti-hallucination defense.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Methods — Choices, Rationale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Embedding model: all-MiniLM-L6-v2 default (small, fast, ~90 MB). Sidebar dropdown lets us swap to BGE-small, MPNet, or Arctic-xs and rebuild.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Hybrid retrieval: final_score = α · dense + (1 − α) · BM25, default α = 0.65. Lets exact course terms ("Week 3") and paraphrases reinforce each other.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Strict grounded prompt: "answer ONLY from this context, refuse otherwise, cite [filename p.PAGE]". The exact refusal sentence flips the grounded_or_not flag automatically.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LoRA fine-tune of FLAN-T5-small: base model stays frozen; we train only a 1.3 MB rank-8 patch on the q/v attention layers — 99 auto-generated Q&amp;A pairs, 3 epochs, runs on Mac CPU.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QLoRA: optional GPU-only path exposed as a readiness check. On Mac it correctly reports "not ready" (no CUDA / bitsandbytes), which is why LoRA is the path we actually run end-to-end.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Engineering trade-offs: low temperature (0.1) + tight prompts to control cost; CPU-only training and indexing; every index ships with a manifest.json so swapping the embedding model auto-clears the stale index.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Results — Quantitative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Evaluation set: 25 gold questions over the 4 indexed PDFs.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Retrieval Hit@k: 96%.   Grounded-by-guardrail rate: 96%.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Manual + auto-labeled correctness rate: 52%.   Hallucination rate: 0%.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Semantic similarity (pred vs gold): 0.61.   BERTScore F1: 0.77 (precision 0.71, recall 0.84).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Calibration: ECE = 0.139 (top-1 confidence vs labeled correctness).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LoRA experiment (99 train / 18 eval, 3 epochs, lr 5e-4):  eval_loss = 0.332,  mean Jaccard = 0.677.</a:t>
            </a:r>
          </a:p>
        </p:txBody>
      </p:sp>
      <p:pic>
        <p:nvPicPr>
          <p:cNvPr id="5" name="Picture 4" descr="fig2_hit_at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49039"/>
            <a:ext cx="4173819" cy="2743200"/>
          </a:xfrm>
          <a:prstGeom prst="rect">
            <a:avLst/>
          </a:prstGeom>
        </p:spPr>
      </p:pic>
      <p:pic>
        <p:nvPicPr>
          <p:cNvPr id="6" name="Picture 5" descr="fig6_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749039"/>
            <a:ext cx="523616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Left: Retrieval Hit@k for k = 1, 3, 5, 10.   Right: Calibration of top-1 retrieval confidence vs labeled correctness (ECE).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Results — Qualitative &amp; Comparative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Side-by-side example: base FLAN-T5-small vs LoRA-adapted FLAN-T5-small on the same prompt — the adapter consistently keeps the answer grounded and includes the citation pattern from training, while the base model often drifts off-context.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Failure case (correct behavior): question with no supporting chunk → bot returns the fixed refusal sentence, citations list is empty, log records grounded=False. We prefer silence over invention.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Heatmap interpretation: cells (Hit@5=True, Hallucinated) flag generation problems; (Hit@5=False, Correct) usually means a gold-page mismatch in the CSV; (Hit@5=False, Unsupported) shows the guardrail working.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Comparative analysis: With RAG → grounded, cited, refuses when unsure. Without RAG (raw LLM) → confidently invents specifics. Fine-tuned LoRA → reproduces answer style but limited to template-grounded patterns; not a substitute for retrieval over a dynamic corpus.</a:t>
            </a:r>
          </a:p>
        </p:txBody>
      </p:sp>
      <p:pic>
        <p:nvPicPr>
          <p:cNvPr id="5" name="Picture 4" descr="fig5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0"/>
            <a:ext cx="5747554" cy="2834640"/>
          </a:xfrm>
          <a:prstGeom prst="rect">
            <a:avLst/>
          </a:prstGeom>
        </p:spPr>
      </p:pic>
      <p:pic>
        <p:nvPicPr>
          <p:cNvPr id="6" name="Picture 5" descr="fig3_label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57600"/>
            <a:ext cx="5036113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Left: Hit@5 × answer label heatmap (separates retrieval errors from generation errors).   Right: Manual / auto label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Reflection,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Strict prompts worked best. Forcing the LLM to answer only from retrieved context, plus a confidence threshold, caught more hallucinations than any model upgrade.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Retrieval quality drove answer quality. Hybrid BM25 + dense search beat dense alone on course-specific terms like "Week 3" or course codes, and semantic search by itself missed those.</a:t>
            </a:r>
          </a:p>
          <a:p>
            <a:endParaRPr lang="en-US" sz="1500" dirty="0"/>
          </a:p>
          <a:p>
            <a:r>
              <a:rPr lang="en-US" sz="1500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Most failures were "partially correct" answers (11 of 25), not hallucinations. The bot found the right page but paraphrased loosely.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Only 25 questions were used because each one needed manual labeling.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We couldn't run </a:t>
            </a:r>
            <a:r>
              <a:rPr lang="en-US" sz="1500" dirty="0" err="1"/>
              <a:t>QLoRA</a:t>
            </a:r>
            <a:r>
              <a:rPr lang="en-US" sz="1500" dirty="0"/>
              <a:t> because it needs an NVIDIA GPU, and we only had Mac CPUs.</a:t>
            </a:r>
          </a:p>
          <a:p>
            <a:endParaRPr lang="en-US" sz="1500" dirty="0"/>
          </a:p>
          <a:p>
            <a:r>
              <a:rPr lang="en-US" sz="1500" dirty="0"/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 bigger and more diverse evaluation set with human raters.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OCR fallback (</a:t>
            </a:r>
            <a:r>
              <a:rPr lang="en-US" sz="1500" dirty="0" err="1"/>
              <a:t>ocrmypdf</a:t>
            </a:r>
            <a:r>
              <a:rPr lang="en-US" sz="1500" dirty="0"/>
              <a:t>) so scanned PDFs aren't silently skipped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Improve Answer Quality by adding a re-ranker after retrieval (Hit@1 is 68%, Hit@3 is 92% — the right chunk is usually retrieved, just not first)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3290</Words>
  <Application>Microsoft Macintosh PowerPoint</Application>
  <PresentationFormat>Custom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Bhuwan  Jung Thapa</cp:lastModifiedBy>
  <cp:revision>2</cp:revision>
  <dcterms:created xsi:type="dcterms:W3CDTF">2013-01-27T09:14:16Z</dcterms:created>
  <dcterms:modified xsi:type="dcterms:W3CDTF">2026-05-04T15:55:01Z</dcterms:modified>
  <cp:category/>
</cp:coreProperties>
</file>