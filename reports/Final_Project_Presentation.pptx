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~30 seconds.</a:t>
            </a:r>
          </a:p>
          <a:p/>
          <a:p>
            <a:r>
              <a:t>SAY: 'Good &lt;morning/afternoon&gt;. Our project is a Retrieval-Augmented Generation chatbot that answers questions about uploaded course PDFs. Every answer is grounded in retrieved passages and shown with a citation, so the user can verify it. We also added a parameter-efficient fine-tuning experiment using LoRA on FLAN-T5-small as a research-level comparison.'</a:t>
            </a:r>
          </a:p>
          <a:p/>
          <a:p>
            <a:r>
              <a:t>ACTION: Introduce yourself and your teammates here. Edit the team names placeholder in this slide. Keep it short — move on at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~45 seconds (1st of two intro slides).</a:t>
            </a:r>
          </a:p>
          <a:p/>
          <a:p>
            <a:r>
              <a:t>SAY: 'Course documents — syllabi, project requirements, presentation guidelines — are the kind of thing students re-read constantly. A naive LLM will happily make up a deadline or a grading weight, and that is genuinely harmful. So our research question was: can we build a chatbot that ONLY answers from the actual document, refuses when the document does not support an answer, and always shows where its answer came from? That single principle — refuse rather than hallucinate — drives every design choice.'</a:t>
            </a:r>
          </a:p>
          <a:p/>
          <a:p>
            <a:r>
              <a:t>EMPHASIZE: This project touches every CSE 534 topic — prompting, retrieval, fine-tuning,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~45 seconds.</a:t>
            </a:r>
          </a:p>
          <a:p/>
          <a:p>
            <a:r>
              <a:t>SAY: 'Concretely: input is a free-form question, output is an answer grounded in the document. The hard requirement is no invention — if the document does not support an answer, the bot returns a fixed refusal sentence. Every answer also includes citations like Syllabus.pdf p.3, and every interaction is logged so a grader can reproduce why the bot said what it said. As a research extension we also fine-tune a small model with LoRA on QA pairs derived from the same chunks, and we compare it against the RAG baseline.'</a:t>
            </a:r>
          </a:p>
          <a:p/>
          <a:p>
            <a:r>
              <a:t>TRANSITION: 'Now let me show you what data this is built 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~1 minute.</a:t>
            </a:r>
          </a:p>
          <a:p/>
          <a:p>
            <a:r>
              <a:t>SAY: 'Our corpus is the actual CSE 534 course material — four PDFs: the syllabus, the project requirements, the midterm check, and the presentation guideline. We extract page-level text with pypdf, clean whitespace, and run a heading-aware chunker that first splits on section titles like "Grading Policy" or "Schedule" and then recursively splits long sections into 800-character chunks with 150 characters of overlap. Tiny stub chunks are merged backward.'</a:t>
            </a:r>
          </a:p>
          <a:p/>
          <a:p>
            <a:r>
              <a:t>SAY: 'For evaluation we wrote a 25-question gold CSV that names the expected supporting document and page for each question. For the LoRA experiment we automatically generated 117 template-based grounded QA pairs from the chunks — split into 94 training and 23 evaluation examples with a fixed seed.'</a:t>
            </a:r>
          </a:p>
          <a:p/>
          <a:p>
            <a:r>
              <a:t>ETHICS: Mention briefly: data is user-uploaded, indexing runs locally, no PII in syllabi, only the LLM call hits the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~1 minute (slide 1 of 2 in methods).</a:t>
            </a:r>
          </a:p>
          <a:p/>
          <a:p>
            <a:r>
              <a:t>SAY: 'On the ingestion side, PDFs become pages, pages become chunks, chunks become L2-normalized vectors, and the vectors live in a FAISS index that is persisted to disk along with chunk metadata in a parquet file and a manifest JSON.'</a:t>
            </a:r>
          </a:p>
          <a:p/>
          <a:p>
            <a:r>
              <a:t>SAY: 'On the query side, the user question is embedded with the exact same model, retrieval pulls top-k chunks using one of three modes — dense, sparse, or a weighted hybrid — and a confidence guardrail short-circuits before the LLM is even called when the top score is too low. That guardrail is the single most important anti-hallucination defense.'</a:t>
            </a:r>
          </a:p>
          <a:p/>
          <a:p>
            <a:r>
              <a:t>POINT TO FIGURE: 'On the left you can see the per-document chunk counts so the audience can sanity-check that no PDF was silently dropped during ingestion.'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~1 minute (slide 2 of 2 in methods).</a:t>
            </a:r>
          </a:p>
          <a:p/>
          <a:p>
            <a:r>
              <a:t>SAY: 'A few design choices worth calling out. First, we use a small sentence-transformer by default — MiniLM-L6-v2 — because it is fast, free, and well-understood, but the sidebar lets us swap in BGE or MPNet and rebuild the index without code changes. Second, we use a weighted hybrid of dense FAISS and BM25 sparse retrieval, because course documents contain very specific terms — week numbers, course codes — that benefit from exact keyword matching, while semantics still helps for paraphrased questions.'</a:t>
            </a:r>
          </a:p>
          <a:p/>
          <a:p>
            <a:r>
              <a:t>SAY: 'Third, the prompt is intentionally strict — the LLM is told to refuse with a fixed sentence if the context does not support an answer, and we detect that exact sentence to mark the answer as ungrounded.'</a:t>
            </a:r>
          </a:p>
          <a:p/>
          <a:p>
            <a:r>
              <a:t>SAY: 'For the LoRA experiment, we attach a PEFT adapter to just the query and value attention matrices of FLAN-T5-small — that is about 1.4 megabytes of weights — and we keep the base model frozen. QLoRA is wired in but it requires CUDA and bitsandbytes; on a Mac the honest answer is that LoRA is the practical local option.'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~1 minute (slide 1 of 2 in results).</a:t>
            </a:r>
          </a:p>
          <a:p/>
          <a:p>
            <a:r>
              <a:t>SAY: 'On 25 gold questions, retrieval finds the right document and page in the top-k chunks 96% of the time. The model refused (returned the unsupported sentence) in only 4% of cases, and our heuristic + manual labels show 52% correct answers and 0% hallucinations. BERTScore F1 against the gold answers is 0.77, semantic similarity is 0.61, and the calibration ECE — how well the retrieval confidence score lines up with empirical correctness — is 0.139, which is reasonable for an unblinded run.'</a:t>
            </a:r>
          </a:p>
          <a:p/>
          <a:p>
            <a:r>
              <a:t>SAY: 'For the LoRA experiment we trained for 3 epochs on 94 examples in about 3 minutes on CPU and reached an eval loss of 0.394 and a held-out Jaccard overlap of 0.673 against template-generated gold answers. That is a useful research baseline; we will discuss its limits in a moment.'</a:t>
            </a:r>
          </a:p>
          <a:p/>
          <a:p>
            <a:r>
              <a:t>POINT TO FIGURES: Left chart shows Hit@k bars; explain that Hit@1 vs Hit@10 gap indicates rank quality. Right chart shows calibration buckets — emphasize that low ECE means confidence is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~1 minute (slide 2 of 2 in results).</a:t>
            </a:r>
          </a:p>
          <a:p/>
          <a:p>
            <a:r>
              <a:t>SAY: 'Qualitatively the most informative comparison is the LoRA adapter side-by-side. The base FLAN-T5-small often drifts away from the supplied context and rarely cites the source; the LoRA-adapted version reliably mirrors the training style — answer from context, end with a [doc.pdf p.N] citation. That is exactly the behavior we wanted to teach.'</a:t>
            </a:r>
          </a:p>
          <a:p/>
          <a:p>
            <a:r>
              <a:t>SAY: 'A representative correct refusal: when we ask something the corpus does not cover, the guardrail short-circuits, the answer is the fixed unsupported sentence, and citations stay empty. We log this as grounded=False so we can audit it later.'</a:t>
            </a:r>
          </a:p>
          <a:p/>
          <a:p>
            <a:r>
              <a:t>POINT TO HEATMAP: 'The heatmap on the left is the figure that actually separates retrieval failure from generation failure. The bottom-left cell — retrieval missed but the bot correctly refused — is the guardrail earning its keep. The top-right cell — retrieval succeeded but the bot hallucinated — would be a generation problem; in our run that bucket is empty.'</a:t>
            </a:r>
          </a:p>
          <a:p/>
          <a:p>
            <a:r>
              <a:t>COMPARATIVE: 'With RAG vs without RAG: a raw LLM with no context happily fabricates page numbers and grading weights; with RAG it either cites real text or refuses. With LoRA vs without LoRA: the adapter learned the answer style but cannot replace retrieval for a corpus the user can change at any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~1 minute (closing slide).</a:t>
            </a:r>
          </a:p>
          <a:p/>
          <a:p>
            <a:r>
              <a:t>REFLECTION: 'Two lessons stood out. First, simple prompt engineering plus a hard confidence threshold did more for trust than any model swap. Second, hybrid retrieval beat dense-only on questions that contained exact course terms.'</a:t>
            </a:r>
          </a:p>
          <a:p/>
          <a:p>
            <a:r>
              <a:t>LIMITATIONS: 'pypdf has no OCR, so any scanned PDF will silently produce empty text. Our heading detector is a regex heuristic and misses unusual layouts. The LoRA experiment is intentionally honest — the QA pairs are template-generated from the chunks, so the adapter mostly learns answer FORMAT rather than new knowledge. And QLoRA would need a CUDA GPU; we ship a readiness check that correctly reports it as unavailable on a Mac.'</a:t>
            </a:r>
          </a:p>
          <a:p/>
          <a:p>
            <a:r>
              <a:t>FUTURE WORK: 'Realistic next steps: add OCR for scanned PDFs, rerank retrieved chunks with a small cross-encoder, run QLoRA on a free Colab T4 for a true 4-bit comparison, and replace the template QA pairs with human-written ones evaluated with BERTScore.'</a:t>
            </a:r>
          </a:p>
          <a:p/>
          <a:p>
            <a:r>
              <a:t>CLOSING SENTENCE: 'Thanks — happy to take questions, especially about the retrieval guardrail or the LoRA-vs-base comparison.'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Generative AI RAG Document Q&amp;A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86A33"/>
                </a:solidFill>
              </a:defRPr>
            </a:pPr>
            <a:r>
              <a:t>Grounded answers from uploaded course PDFs, with citations and a LoRA fine-tuning experiment.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Team: &lt;add team member names here&gt;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Course: CSE 434 / 534 — Generative AI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Final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Introduction — Why a grounded course-PDF chatbot?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Problem: students and instructors waste time searching syllabi, project specs, and policy docs.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Generic LLMs hallucinate facts about deadlines, grading, and policies — that is unsafe to trust.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We need a system that answers ONLY from the uploaded documents and shows the source.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Course connections covered:  Prompt engineering  •  Retrieval-Augmented Generation  •  Parameter-efficient fine-tuning (LoRA)  •  Evaluation methodology (Hit@k, BERTScore, calibration, manual labels).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Goal: a local-first, transparent, trustworthy Q&amp;A chatbot — not a magic oracle.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Input: a user question + a corpus of PDFs the user uploaded.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Output: a concise answer grounded in retrieved passages, with citations [filename p.PAGE].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Hard constraint: if no passage supports an answer, the bot must say so and refuse — no invention.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Auditability: every Q&amp;A is logged so any answer can be traced back to its retrieved chunks.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Stretch goal: compare RAG against a parameter-efficient fine-tuned model (LoRA on FLAN-T5-small).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Source: 4 real CSE 534 course PDFs uploaded into the app — Syllabus, Project Requirement, Midterm Project Check, and Final Project Presentation Guideline.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Preprocessing: pypdf page extraction → whitespace cleanup → heading-aware section splitting → recursive char split (chunk_size 800, overlap 150) → tiny-chunk merge (min 250 chars).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Indexed corpus: 4 PDFs, dozens of chunks, embedded with sentence-transformers all-MiniLM-L6-v2 (384-d) into a FAISS IndexFlatIP.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Evaluation set: a 25-question gold CSV (eval/sample_eval_questions.csv) with question, gold_answer, gold_doc, gold_page columns.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LoRA fine-tuning data: 117 template-based grounded QA pairs auto-generated from the indexed chunks (94 train / 23 eval, fixed seed for reproducibility).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Ethics: only user-uploaded course PDFs (no scraping); all retrieval runs locally; only the LLM call leaves the machine.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Methods —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INGEST: PDFs → pypdf pages → heading-aware + recursive chunker → sentence-transformers embedder → FAISS IndexFlatIP (L2-normalized, persisted on disk).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QUERY: question → embed with same model → retrieve top-k chunks (Dense FAISS / BM25 / Hybrid α-fusion) → confidence guardrail (min_score) → strict prompt → Gemini or OpenAI → grounded answer + citations.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FOUR-TAB UI: Chat (ask), Documents/Index (curate), Evaluation (measure + label + 6 figures), LoRA/QLoRA (fine-tune + try the adapter).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REPRODUCIBILITY: indexes/manifest.json records embedding model, chunk size, document set, build time. Switching the embedding model auto-resets the stale index.</a:t>
            </a:r>
          </a:p>
        </p:txBody>
      </p:sp>
      <p:pic>
        <p:nvPicPr>
          <p:cNvPr id="5" name="Picture 4" descr="fig1_chunks_per_d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49039"/>
            <a:ext cx="6199668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749039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22222"/>
                </a:solidFill>
              </a:defRPr>
            </a:pPr>
            <a:r>
              <a:t>Stack at a glance: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Embeddings: sentence-transformers (swappable: MiniLM / BGE / MPNet / Arctic).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Index: FAISS IndexFlatIP — exact search at this scale.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Retrieval: Dense FAISS, sparse BM25, or hybrid score fusion.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LLM: Gemini-1.5-flash (default) or GPT-4o-mini, swappable at runtime.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• Guardrail: top score &lt; min_score → refuse instead of calling the LLM.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Methods — Choices, Rationale &amp;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Embedding model: all-MiniLM-L6-v2 default (small, fast, free, ~90 MB). Sidebar dropdown lets us swap to BGE-small, MPNet, or Arctic-xs and rebuild.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Hybrid retrieval: final_score = α · dense_score + (1 − α) · BM25, default α=0.65. Helps exact course terms (e.g. "Week 3") and paraphrases reinforce each other.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Strict grounded prompt: "answer ONLY from this context, refuse otherwise, cite [filename p.PAGE]". The exact refusal sentence is detected to flip the grounded_or_not flag.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LoRA experiment: PEFT adapter on the q/v attention modules of FLAN-T5-small (rank 8, α 16, dropout 0.05). Only ~1.4 MB of weights are trained — base model stays frozen.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QLoRA path: included as a readiness check (CUDA + bitsandbytes). On Mac/CPU it correctly reports unavailable; LoRA is the practical local path.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Engineering constraints handled: API rate limits → temperature 0.1 + concise prompts; CPU-only training; reproducible manifests; embedding-mismatch guard auto-resets stale indexes.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Final Results — Quantitative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Evaluation set: 25 gold questions over the 4 indexed PDFs.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Retrieval Hit@k: 96%.   Grounded-by-guardrail rate: 96%.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Manual + auto-labeled correctness rate: 52%.   Hallucination rate: 0%.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Semantic similarity (pred vs gold): 0.61.   BERTScore F1: 0.77.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Calibration: ECE = 0.139 (top-1 confidence vs labeled correctness).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LoRA experiment (94 train / 23 eval, 3 epochs, lr 5e-4):  eval_loss = 0.394,  mean Jaccard = 0.673.</a:t>
            </a:r>
          </a:p>
        </p:txBody>
      </p:sp>
      <p:pic>
        <p:nvPicPr>
          <p:cNvPr id="5" name="Picture 4" descr="fig2_hit_a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49039"/>
            <a:ext cx="4173819" cy="2743200"/>
          </a:xfrm>
          <a:prstGeom prst="rect">
            <a:avLst/>
          </a:prstGeom>
        </p:spPr>
      </p:pic>
      <p:pic>
        <p:nvPicPr>
          <p:cNvPr id="6" name="Picture 5" descr="fig6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749039"/>
            <a:ext cx="52361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Left: Retrieval Hit@k for k = 1, 3, 5, 10.   Right: Calibration of top-1 retrieval confidence vs labeled correctness (ECE).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Final Results — Qualitative &amp; Comparative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Side-by-side example: base FLAN-T5-small vs LoRA-adapted FLAN-T5-small on the same prompt — the adapter consistently keeps the answer grounded and includes the citation pattern from training, while the base model often drifts off-context.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Failure case (correct behavior): question with no supporting chunk → bot returns the fixed refusal sentence, citations list is empty, log records grounded=False. We prefer silence over invention.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Heatmap interpretation: cells (Hit@5=True, Hallucinated) flag generation problems; (Hit@5=False, Correct) usually means a gold-page mismatch in the CSV; (Hit@5=False, Unsupported) shows the guardrail working.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Comparative analysis: With RAG → grounded, cited, refuses when unsure. Without RAG (raw LLM) → confidently invents specifics. Fine-tuned LoRA → reproduces answer style but limited to template-grounded patterns; not a substitute for retrieval over a dynamic corpus.</a:t>
            </a:r>
          </a:p>
        </p:txBody>
      </p:sp>
      <p:pic>
        <p:nvPicPr>
          <p:cNvPr id="5" name="Picture 4" descr="fig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0"/>
            <a:ext cx="5747554" cy="2834640"/>
          </a:xfrm>
          <a:prstGeom prst="rect">
            <a:avLst/>
          </a:prstGeom>
        </p:spPr>
      </p:pic>
      <p:pic>
        <p:nvPicPr>
          <p:cNvPr id="6" name="Picture 5" descr="fig3_labe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657600"/>
            <a:ext cx="503611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Left: Hit@5 × answer label heatmap (separates retrieval errors from generation errors).   Right: Manual / auto label distribution.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Reflection,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Reflection: the strict grounded prompt + min_score guardrail did most of the heavy lifting against hallucination — more than any single model swap. Hybrid BM25 + dense beat dense alone for course-specific terms (course codes, week numbers).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Reflection: RAG &gt; pure fine-tuning when the corpus is dynamic — users can upload new PDFs at any time, so retrieval has to stay live. LoRA is best framed as a research extension, not a replacement.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Limitations: pypdf has no OCR (scanned PDFs fail silently); heading detection is heuristic; template-generated LoRA QA pairs cap what the adapter can really learn; QLoRA cannot run on Mac (no CUDA / bitsandbytes); token-overlap is a coarse adapter metric.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Future work: OCR fallback (ocrmypdf); cross-encoder re-ranker on retrieved chunks; per-course namespaces with a switcher; QLoRA on Colab (free T4) for true 4-bit comparison; human-written QA pairs evaluated with BERTScore for the LoRA path; LLM-response cache keyed on (question, retrieved_ids) to cut eval cost.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